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9"/>
  </p:notesMasterIdLst>
  <p:sldIdLst>
    <p:sldId id="264" r:id="rId5"/>
    <p:sldId id="313" r:id="rId6"/>
    <p:sldId id="315" r:id="rId7"/>
    <p:sldId id="328" r:id="rId8"/>
    <p:sldId id="320" r:id="rId9"/>
    <p:sldId id="318" r:id="rId10"/>
    <p:sldId id="319" r:id="rId11"/>
    <p:sldId id="321" r:id="rId12"/>
    <p:sldId id="322" r:id="rId13"/>
    <p:sldId id="324" r:id="rId14"/>
    <p:sldId id="323" r:id="rId15"/>
    <p:sldId id="325" r:id="rId16"/>
    <p:sldId id="326" r:id="rId17"/>
    <p:sldId id="32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9" autoAdjust="0"/>
  </p:normalViewPr>
  <p:slideViewPr>
    <p:cSldViewPr snapToGrid="0">
      <p:cViewPr varScale="1">
        <p:scale>
          <a:sx n="63" d="100"/>
          <a:sy n="63" d="100"/>
        </p:scale>
        <p:origin x="84" y="1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6DBDFE-DD3D-4291-A404-1B97A83A6EA8}" type="datetimeFigureOut">
              <a:rPr lang="en-US" smtClean="0"/>
              <a:t>7/4/2022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456DE3-4E01-4AFD-AD42-42312842ED8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961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98700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04DB13E-F722-4ED6-BB00-556651E952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26428D7-C6F3-473D-A360-A3F5C3E8728C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9103" y="2244830"/>
            <a:ext cx="8933796" cy="2437232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3000"/>
              </a:lnSpc>
              <a:defRPr lang="en-US" sz="68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9101" y="4682062"/>
            <a:ext cx="8936846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800" spc="80" baseline="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6"/>
            <a:ext cx="1554480" cy="485546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EA0C0817-A112-4847-8014-A94B7D2A4EA3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629100" y="5177408"/>
            <a:ext cx="5730295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20" y="5177408"/>
            <a:ext cx="1955980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4701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32B432-ACDA-4023-A761-2BAB76577B62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881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A4A1889-E37C-4EC3-9E41-9DAD221CF38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9156" y="2275165"/>
            <a:ext cx="8933688" cy="2406895"/>
          </a:xfrm>
        </p:spPr>
        <p:txBody>
          <a:bodyPr anchor="ctr">
            <a:normAutofit/>
          </a:bodyPr>
          <a:lstStyle>
            <a:lvl1pPr algn="ctr">
              <a:lnSpc>
                <a:spcPct val="83000"/>
              </a:lnSpc>
              <a:defRPr lang="en-US" sz="68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683EB04-C23E-490C-A1A6-030CF79D23C8}"/>
              </a:ext>
            </a:extLst>
          </p:cNvPr>
          <p:cNvGrpSpPr/>
          <p:nvPr/>
        </p:nvGrpSpPr>
        <p:grpSpPr>
          <a:xfrm>
            <a:off x="5250180" y="1267730"/>
            <a:ext cx="1691640" cy="615934"/>
            <a:chOff x="5250180" y="1267730"/>
            <a:chExt cx="1691640" cy="615934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F8A84C03-E1CA-4A4E-81D6-9BB0C335B7A0}"/>
                </a:ext>
              </a:extLst>
            </p:cNvPr>
            <p:cNvCxnSpPr/>
            <p:nvPr/>
          </p:nvCxnSpPr>
          <p:spPr>
            <a:xfrm>
              <a:off x="525018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26FB5A-D5D1-4DAB-AC43-7F51A7F2D197}"/>
                </a:ext>
              </a:extLst>
            </p:cNvPr>
            <p:cNvCxnSpPr/>
            <p:nvPr/>
          </p:nvCxnSpPr>
          <p:spPr>
            <a:xfrm>
              <a:off x="6941820" y="1267730"/>
              <a:ext cx="0" cy="612648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303F14-E560-4C02-94F4-B4695FE26813}"/>
                </a:ext>
              </a:extLst>
            </p:cNvPr>
            <p:cNvCxnSpPr/>
            <p:nvPr/>
          </p:nvCxnSpPr>
          <p:spPr>
            <a:xfrm>
              <a:off x="5250180" y="1883664"/>
              <a:ext cx="1691640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rgbClr val="FFFFFF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9156" y="4682062"/>
            <a:ext cx="8939784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800">
                <a:solidFill>
                  <a:schemeClr val="tx1">
                    <a:lumMod val="95000"/>
                    <a:lumOff val="5000"/>
                  </a:schemeClr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18760" y="1344502"/>
            <a:ext cx="1554480" cy="498781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D9C646AA-F36E-4540-911D-FFFC0A0EF24A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29157" y="5177408"/>
            <a:ext cx="5660134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177408"/>
            <a:ext cx="1958339" cy="2286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97321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61760" y="2103120"/>
            <a:ext cx="466344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6D26-FA5F-4637-B602-B7C2DC34CFD4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05825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 i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92472"/>
            <a:ext cx="4663440" cy="3163825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58712" y="2074334"/>
            <a:ext cx="4663440" cy="640080"/>
          </a:xfrm>
        </p:spPr>
        <p:txBody>
          <a:bodyPr anchor="ctr">
            <a:normAutofit/>
          </a:bodyPr>
          <a:lstStyle>
            <a:lvl1pPr marL="0" indent="0" algn="l">
              <a:spcBef>
                <a:spcPts val="0"/>
              </a:spcBef>
              <a:buNone/>
              <a:defRPr sz="1900" b="1">
                <a:solidFill>
                  <a:schemeClr val="tx1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58712" y="2792471"/>
            <a:ext cx="4663440" cy="3164509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F15D8-96D1-4781-BC50-CA8A088B2FE4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07325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A96C99-B8F8-4528-BD05-0E16E943DC09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587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36942-C211-4B28-8DBD-C953E00AF71B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327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5E1BBF9-8BEF-4353-BA68-30AAF9EBD8D8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941C21-2A5D-4912-AB06-1BB0C0EB6AE1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200" y="607392"/>
            <a:ext cx="3161963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2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68580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58200" y="2336800"/>
            <a:ext cx="3161963" cy="36068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>
          <a:xfrm>
            <a:off x="5588000" y="6035040"/>
            <a:ext cx="1955800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E8D12A6-918A-48BD-8CB9-CA713993B0EA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85801" y="6035040"/>
            <a:ext cx="4584700" cy="365760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3435" cy="36576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2160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687CA98-D9C7-497F-A1DA-7D22F8753BCE}"/>
              </a:ext>
            </a:extLst>
          </p:cNvPr>
          <p:cNvSpPr/>
          <p:nvPr/>
        </p:nvSpPr>
        <p:spPr>
          <a:xfrm>
            <a:off x="8119870" y="237744"/>
            <a:ext cx="3826596" cy="6382512"/>
          </a:xfrm>
          <a:prstGeom prst="rect">
            <a:avLst/>
          </a:prstGeom>
          <a:solidFill>
            <a:schemeClr val="bg1">
              <a:lumMod val="85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7696201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662337" y="6035040"/>
            <a:ext cx="2071963" cy="365760"/>
          </a:xfrm>
        </p:spPr>
        <p:txBody>
          <a:bodyPr/>
          <a:lstStyle>
            <a:lvl1pPr>
              <a:defRPr b="1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E778CE86-875F-4587-BCF6-FA054AFC0D53}" type="datetime1">
              <a:rPr lang="en-US" smtClean="0"/>
              <a:pPr/>
              <a:t>7/4/2022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12648" y="6035040"/>
            <a:ext cx="4588002" cy="365760"/>
          </a:xfrm>
        </p:spPr>
        <p:txBody>
          <a:bodyPr/>
          <a:lstStyle>
            <a:lvl1pPr marL="0" algn="r" defTabSz="914400" rtl="0" eaLnBrk="1" latinLnBrk="0" hangingPunct="1">
              <a:defRPr lang="en-US" sz="1000" b="1" kern="1200" dirty="0">
                <a:solidFill>
                  <a:srgbClr val="FFFFFF"/>
                </a:solidFill>
                <a:effectLst>
                  <a:outerShdw blurRad="1905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035040"/>
            <a:ext cx="1225296" cy="365760"/>
          </a:xfrm>
        </p:spPr>
        <p:txBody>
          <a:bodyPr/>
          <a:lstStyle/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B3D8CC-BB13-41A5-8F34-B8E84A4F9534}"/>
              </a:ext>
            </a:extLst>
          </p:cNvPr>
          <p:cNvSpPr/>
          <p:nvPr/>
        </p:nvSpPr>
        <p:spPr>
          <a:xfrm>
            <a:off x="8254660" y="374904"/>
            <a:ext cx="3557016" cy="6108192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7250" y="603504"/>
            <a:ext cx="3144774" cy="1645920"/>
          </a:xfrm>
        </p:spPr>
        <p:txBody>
          <a:bodyPr anchor="b">
            <a:noAutofit/>
          </a:bodyPr>
          <a:lstStyle>
            <a:lvl1pPr algn="l">
              <a:lnSpc>
                <a:spcPct val="100000"/>
              </a:lnSpc>
              <a:defRPr sz="3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77250" y="2386584"/>
            <a:ext cx="3144774" cy="3511296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99103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E94681D-2A4C-4A8D-B9B5-31D440D032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1">
              <a:lumMod val="75000"/>
              <a:alpha val="60000"/>
            </a:schemeClr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85000"/>
                <a:lumOff val="1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56794" y="6035040"/>
            <a:ext cx="2893045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FA2B21-3FCD-4721-B95C-427943F61125}" type="datetime1">
              <a:rPr lang="en-US" smtClean="0"/>
              <a:t>7/4/2022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035040"/>
            <a:ext cx="58166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035040"/>
            <a:ext cx="838200" cy="3657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4B7E4EF-A1BD-40F4-AB7B-04F084DD991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90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i="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1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3" name="Rectangle 72">
            <a:extLst>
              <a:ext uri="{FF2B5EF4-FFF2-40B4-BE49-F238E27FC236}">
                <a16:creationId xmlns:a16="http://schemas.microsoft.com/office/drawing/2014/main" id="{BF9FFE17-DE95-4821-ACC1-B90C954492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3CF76AF-FF72-4430-A772-05840329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C3B467-088C-4F3D-A9A7-105C4E1E20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1132" y="2091263"/>
            <a:ext cx="8649738" cy="1880662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MODIFIED CONDITION/ DECISION COVERAGE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722DDC-8EEE-4A06-8DFE-B44871EAA2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1130" y="4362450"/>
            <a:ext cx="8652788" cy="776813"/>
          </a:xfr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sz="1800" dirty="0"/>
              <a:t>MUHAMMAD BILAL (</a:t>
            </a:r>
            <a:r>
              <a:rPr lang="en-US" sz="1800" dirty="0">
                <a:latin typeface="Segoe Print" panose="02000600000000000000" pitchFamily="2" charset="0"/>
              </a:rPr>
              <a:t>02-131192-080</a:t>
            </a:r>
            <a:r>
              <a:rPr lang="en-US" sz="1800" dirty="0"/>
              <a:t>)</a:t>
            </a:r>
          </a:p>
          <a:p>
            <a:pPr algn="l">
              <a:spcAft>
                <a:spcPts val="600"/>
              </a:spcAft>
            </a:pPr>
            <a:r>
              <a:rPr lang="en-US" dirty="0"/>
              <a:t>RABYA ESSANI (</a:t>
            </a:r>
            <a:r>
              <a:rPr lang="en-US" sz="1800" dirty="0">
                <a:latin typeface="Segoe Print" panose="02000600000000000000" pitchFamily="2" charset="0"/>
              </a:rPr>
              <a:t>02-131192-081</a:t>
            </a:r>
            <a:r>
              <a:rPr lang="en-US" dirty="0"/>
              <a:t>)</a:t>
            </a:r>
            <a:endParaRPr lang="en-US" sz="1800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B1C8180-2FDD-4202-8C45-4057CB1AB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6E86CC6-13EA-4A88-86AD-CF27BF52C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F80B441-4F7D-4B40-8A13-FED03A1F3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94182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0C7FD1A-44B1-4E4C-B0C9-A8103DCCDC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913025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28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804519"/>
            <a:ext cx="10058400" cy="1371600"/>
          </a:xfrm>
        </p:spPr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WHAT IS MODIFIED CONDITION / DECISION COVERAGE TESTING?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IT IS A WHITE BOX TESTING TECNIQUE USED TO TEST HIGHLY CRITICAL SYSTEMS. IN MC/DC EACH CONDITION IN A DECISION HAS BEEN SHOWN TO INDEPENDENTLY AFFECT THAT DECISION'S OUTCOME BY VARYING JUST THAT CONDITION WHILE HOLDING ALL OTHER POSSIBLE CONDITIONS FIXED.</a:t>
            </a:r>
          </a:p>
        </p:txBody>
      </p:sp>
    </p:spTree>
    <p:extLst>
      <p:ext uri="{BB962C8B-B14F-4D97-AF65-F5344CB8AC3E}">
        <p14:creationId xmlns:p14="http://schemas.microsoft.com/office/powerpoint/2010/main" val="3363089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 dirty="0">
                <a:latin typeface="Segoe Print" panose="02000600000000000000" pitchFamily="2" charset="0"/>
              </a:rPr>
              <a:t>WHERE IS IT USED?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0330DFC-EB25-C10F-5BB7-FA85AAD591DB}"/>
              </a:ext>
            </a:extLst>
          </p:cNvPr>
          <p:cNvSpPr txBox="1">
            <a:spLocks/>
          </p:cNvSpPr>
          <p:nvPr/>
        </p:nvSpPr>
        <p:spPr>
          <a:xfrm>
            <a:off x="12192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IT IS USED IN SOFTWARES WHERE PREVENTION FROM FAILURE IS AT THE MAXIMUM PRIORITY. SUCH AS THE SAFTY CRITICAL APPLICATIONS IN THE AVIONIC DOMAIN (systems including communications, </a:t>
            </a:r>
            <a:r>
              <a:rPr lang="en-US" sz="2400"/>
              <a:t>navigation, display </a:t>
            </a:r>
            <a:r>
              <a:rPr lang="en-US" sz="2400" dirty="0"/>
              <a:t>and management of multiple systems, and the hundreds of systems that are fitted to aircraft to perform </a:t>
            </a:r>
            <a:r>
              <a:rPr lang="en-US" sz="2400"/>
              <a:t>individual functions).</a:t>
            </a: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Garamond" pitchFamily="18" charset="0"/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94217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sz="4000" b="1" dirty="0">
                <a:latin typeface="Segoe Print" panose="02000600000000000000" pitchFamily="2" charset="0"/>
              </a:rPr>
              <a:t>WHY IS IT USED?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0330DFC-EB25-C10F-5BB7-FA85AAD591DB}"/>
              </a:ext>
            </a:extLst>
          </p:cNvPr>
          <p:cNvSpPr txBox="1">
            <a:spLocks/>
          </p:cNvSpPr>
          <p:nvPr/>
        </p:nvSpPr>
        <p:spPr>
          <a:xfrm>
            <a:off x="12192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MC/DC PROVIDES A BALANCE BETWEEN PRECISION AND EFFORT. IT REQUIRES A MUCH SMALLER NUMBER OF TEST CASES AS COMPARED TO OTHER COVERAGE TECHNIQUES WHILE RETAINING A HIGH ERROR-DETECTION PROBABILITY.</a:t>
            </a:r>
          </a:p>
        </p:txBody>
      </p:sp>
    </p:spTree>
    <p:extLst>
      <p:ext uri="{BB962C8B-B14F-4D97-AF65-F5344CB8AC3E}">
        <p14:creationId xmlns:p14="http://schemas.microsoft.com/office/powerpoint/2010/main" val="2475505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3B055-28A3-7016-7C57-1E933AE1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814044"/>
            <a:ext cx="10058400" cy="1371600"/>
          </a:xfrm>
        </p:spPr>
        <p:txBody>
          <a:bodyPr/>
          <a:lstStyle/>
          <a:p>
            <a:pPr algn="ctr"/>
            <a:r>
              <a:rPr lang="en-US" sz="4000" b="1" dirty="0">
                <a:latin typeface="Segoe Print" panose="02000600000000000000" pitchFamily="2" charset="0"/>
              </a:rPr>
              <a:t>WHY IS IT USED? </a:t>
            </a:r>
            <a:r>
              <a:rPr lang="en-US" b="1" dirty="0">
                <a:latin typeface="Segoe Print" panose="02000600000000000000" pitchFamily="2" charset="0"/>
              </a:rPr>
              <a:t>(Continued)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49073-6F6C-CD66-C27C-4F195316D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0330DFC-EB25-C10F-5BB7-FA85AAD591DB}"/>
              </a:ext>
            </a:extLst>
          </p:cNvPr>
          <p:cNvSpPr txBox="1">
            <a:spLocks/>
          </p:cNvSpPr>
          <p:nvPr/>
        </p:nvSpPr>
        <p:spPr>
          <a:xfrm>
            <a:off x="1219200" y="2103120"/>
            <a:ext cx="10058400" cy="3849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10000"/>
              </a:lnSpc>
              <a:spcBef>
                <a:spcPts val="900"/>
              </a:spcBef>
              <a:spcAft>
                <a:spcPts val="0"/>
              </a:spcAft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1">
                  <a:lumMod val="85000"/>
                  <a:lumOff val="15000"/>
                </a:schemeClr>
              </a:buClr>
              <a:buFont typeface="Garamond" pitchFamily="18" charset="0"/>
              <a:buChar char="◦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algn="ctr">
              <a:lnSpc>
                <a:spcPct val="100000"/>
              </a:lnSpc>
              <a:spcBef>
                <a:spcPts val="0"/>
              </a:spcBef>
            </a:pP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WHEN WE TALK ABOUT CONDITION, WE POSSIBLY HAVE 2 OUTCOMES EITHER </a:t>
            </a:r>
            <a:r>
              <a:rPr lang="en-US" sz="2400" dirty="0">
                <a:solidFill>
                  <a:srgbClr val="FF0000"/>
                </a:solidFill>
              </a:rPr>
              <a:t>TRUE </a:t>
            </a:r>
            <a:r>
              <a:rPr lang="en-US" sz="2400" dirty="0"/>
              <a:t>OR </a:t>
            </a:r>
            <a:r>
              <a:rPr lang="en-US" sz="2400" dirty="0">
                <a:solidFill>
                  <a:srgbClr val="FF0000"/>
                </a:solidFill>
              </a:rPr>
              <a:t>FALSE</a:t>
            </a:r>
            <a:r>
              <a:rPr lang="en-US" sz="2400" dirty="0"/>
              <a:t>.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2400" dirty="0"/>
              <a:t>WHEN WE HAVE ‘N’ NUMBER OF CONDITIONS THE TOTAL COMBINATION CAN BE CALCULATED BY </a:t>
            </a:r>
            <a:r>
              <a:rPr lang="en-US" sz="2800" b="0" i="0" dirty="0">
                <a:solidFill>
                  <a:srgbClr val="212529"/>
                </a:solidFill>
                <a:effectLst/>
                <a:latin typeface="-apple-system"/>
              </a:rPr>
              <a:t>2</a:t>
            </a:r>
            <a:r>
              <a:rPr lang="en-US" sz="2800" baseline="30000" dirty="0">
                <a:solidFill>
                  <a:srgbClr val="212529"/>
                </a:solidFill>
                <a:latin typeface="-apple-system"/>
              </a:rPr>
              <a:t>N</a:t>
            </a:r>
            <a:r>
              <a:rPr lang="en-US" sz="2800" b="0" i="0" dirty="0">
                <a:solidFill>
                  <a:srgbClr val="212529"/>
                </a:solidFill>
                <a:effectLst/>
                <a:latin typeface="-apple-system"/>
              </a:rPr>
              <a:t>.</a:t>
            </a:r>
            <a:endParaRPr lang="en-US" sz="24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Garamond" pitchFamily="18" charset="0"/>
              <a:buNone/>
            </a:pPr>
            <a:r>
              <a:rPr lang="en-US" sz="2400" dirty="0"/>
              <a:t>BUT MC/DC REQUIRES SIGNIFICANTLY FEWER TESTS WITH HIGH ERROR DETECTION PROBABILITY.</a:t>
            </a:r>
          </a:p>
        </p:txBody>
      </p:sp>
    </p:spTree>
    <p:extLst>
      <p:ext uri="{BB962C8B-B14F-4D97-AF65-F5344CB8AC3E}">
        <p14:creationId xmlns:p14="http://schemas.microsoft.com/office/powerpoint/2010/main" val="3192001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1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898C09D-B9F4-5BB3-C0EE-E28B8E178F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81250" y="3071019"/>
            <a:ext cx="7429500" cy="191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94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1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7277101" y="2014193"/>
            <a:ext cx="4238624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B0833A6-7F66-91C7-2F92-928A0EBB6721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7277101" y="2293968"/>
            <a:ext cx="4165052" cy="33085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A can alter the result independently as shown in test number 3 &amp; 7.</a:t>
            </a:r>
          </a:p>
          <a:p>
            <a:pPr lvl="0"/>
            <a:endParaRPr lang="en-US" altLang="en-US" sz="1900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B can alter the result independently as shown in test number 5 &amp; 7.</a:t>
            </a:r>
          </a:p>
          <a:p>
            <a:pPr lvl="0"/>
            <a:endParaRPr lang="en-US" altLang="en-US" sz="1900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C can alter the result independently as shown in test number 3 &amp; 4.</a:t>
            </a:r>
          </a:p>
          <a:p>
            <a:pPr lvl="0"/>
            <a:endParaRPr lang="en-US" altLang="en-US" sz="1900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sz="1900" dirty="0">
                <a:solidFill>
                  <a:srgbClr val="3D3D4E"/>
                </a:solidFill>
                <a:latin typeface="Avenir Next LT Pro (Body)"/>
              </a:rPr>
              <a:t>Hence, we will choose test numbers 3, 4, 5, and 7 as our test cases.</a:t>
            </a:r>
            <a:r>
              <a:rPr lang="en-US" altLang="en-US" sz="1900" dirty="0">
                <a:latin typeface="Avenir Next LT Pro (Body)"/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F00AD4-35A0-B442-F6BC-F2B6863D9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764478"/>
            <a:ext cx="5609621" cy="4349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41329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2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839A6A-C338-A308-2BCE-4D40D13AE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3319" y="2862262"/>
            <a:ext cx="6305361" cy="1966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17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2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7277101" y="2014193"/>
            <a:ext cx="4238624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EB0833A6-7F66-91C7-2F92-928A0EBB6721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7277101" y="1906402"/>
            <a:ext cx="4165052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KETTLE can alter the result independently as shown in test number 4 &amp; 8.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CUP can alter the result independently as shown in test number 6 &amp; 8.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COFFEE can alter the result independently as shown in test number 7 &amp; 8.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Hence, we will choose test numbers 4, 6, 7, and 8 as our test cases.</a:t>
            </a:r>
            <a:r>
              <a:rPr lang="en-US" altLang="en-US" dirty="0">
                <a:latin typeface="Avenir Next LT Pro (Body)"/>
              </a:rPr>
              <a:t>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298E2B6-8D52-7C5E-FC80-33D8B182C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1853523"/>
            <a:ext cx="5415280" cy="4309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5378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3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0054C4B-D1BD-BF02-687C-B5ADD7D2A9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49387" y="3209158"/>
            <a:ext cx="6693225" cy="1634649"/>
          </a:xfrm>
        </p:spPr>
      </p:pic>
    </p:spTree>
    <p:extLst>
      <p:ext uri="{BB962C8B-B14F-4D97-AF65-F5344CB8AC3E}">
        <p14:creationId xmlns:p14="http://schemas.microsoft.com/office/powerpoint/2010/main" val="10876410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3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7277101" y="2014193"/>
            <a:ext cx="4238624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A70A393-15BC-C7F1-E6CE-D9736BBFC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2014193"/>
            <a:ext cx="5053013" cy="3948279"/>
          </a:xfrm>
          <a:prstGeom prst="rect">
            <a:avLst/>
          </a:prstGeom>
        </p:spPr>
      </p:pic>
      <p:sp>
        <p:nvSpPr>
          <p:cNvPr id="12" name="Rectangle 2">
            <a:extLst>
              <a:ext uri="{FF2B5EF4-FFF2-40B4-BE49-F238E27FC236}">
                <a16:creationId xmlns:a16="http://schemas.microsoft.com/office/drawing/2014/main" id="{C37CDF8A-D731-BA6E-5A8B-D8B36A2C67FE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7277101" y="2321899"/>
            <a:ext cx="4165052" cy="31393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A can alter the result independently as shown in test number 2 &amp; 6.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B can alter the result independently as shown in test number 2 &amp; 4.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 can alter the result independently as shown in test number 3 &amp; 4.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Hence, we will choose test numbers 2, 3, 4, and 6 as our test cases.</a:t>
            </a:r>
            <a:r>
              <a:rPr lang="en-US" altLang="en-US" dirty="0">
                <a:latin typeface="Avenir Next LT Pro (Body)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26736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DD170-E903-8B32-44F3-D7D27CDC9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4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1C4666A-4CEE-1B86-8078-2A4962DF1A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4475" y="2964180"/>
            <a:ext cx="9163050" cy="197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1837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69929-07B8-8CFE-95EC-8B2C22869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42594"/>
            <a:ext cx="5029200" cy="1081431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Segoe Print" panose="02000600000000000000" pitchFamily="2" charset="0"/>
              </a:rPr>
              <a:t>EXAMPLE 4 (Continued)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2B931B-5E33-5EF3-C162-880EE5948560}"/>
              </a:ext>
            </a:extLst>
          </p:cNvPr>
          <p:cNvSpPr txBox="1"/>
          <p:nvPr/>
        </p:nvSpPr>
        <p:spPr>
          <a:xfrm>
            <a:off x="6096000" y="2014193"/>
            <a:ext cx="5419725" cy="38496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C37CDF8A-D731-BA6E-5A8B-D8B36A2C67FE}"/>
              </a:ext>
            </a:extLst>
          </p:cNvPr>
          <p:cNvSpPr>
            <a:spLocks noChangeArrowheads="1"/>
          </p:cNvSpPr>
          <p:nvPr/>
        </p:nvSpPr>
        <p:spPr bwMode="auto">
          <a:xfrm rot="10800000" flipH="1" flipV="1">
            <a:off x="6258560" y="1906401"/>
            <a:ext cx="5183593" cy="39703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A can alter the result independently as shown in test number 3 &amp; 11.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B can alter the result independently as shown in test number 3 &amp; 7.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C can alter the result independently as shown in test number 5 &amp; 7.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D can alter the result independently as shown in test number 3 &amp; 4.</a:t>
            </a:r>
          </a:p>
          <a:p>
            <a:pPr lvl="0"/>
            <a:endParaRPr lang="en-US" altLang="en-US" dirty="0">
              <a:solidFill>
                <a:srgbClr val="3D3D4E"/>
              </a:solidFill>
              <a:latin typeface="Avenir Next LT Pro (Body)"/>
            </a:endParaRPr>
          </a:p>
          <a:p>
            <a:pPr lvl="0"/>
            <a:r>
              <a:rPr lang="en-US" altLang="en-US" dirty="0">
                <a:solidFill>
                  <a:srgbClr val="3D3D4E"/>
                </a:solidFill>
                <a:latin typeface="Avenir Next LT Pro (Body)"/>
              </a:rPr>
              <a:t>Hence, we will choose test numbers 3, 4, 5, 7, and 11 as our test cases.</a:t>
            </a:r>
            <a:r>
              <a:rPr lang="en-US" altLang="en-US" dirty="0">
                <a:latin typeface="Avenir Next LT Pro (Body)"/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FAF4EC-20CD-9E76-30DF-00768FC46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7" y="642594"/>
            <a:ext cx="4686300" cy="534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29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675B6-F577-B81E-74D9-6E82D6209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743200"/>
            <a:ext cx="10058400" cy="1371600"/>
          </a:xfrm>
        </p:spPr>
        <p:txBody>
          <a:bodyPr/>
          <a:lstStyle/>
          <a:p>
            <a:pPr algn="ctr"/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861813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VTI">
  <a:themeElements>
    <a:clrScheme name="Median">
      <a:dk1>
        <a:sysClr val="windowText" lastClr="000000"/>
      </a:dk1>
      <a:lt1>
        <a:sysClr val="window" lastClr="FFFFFF"/>
      </a:lt1>
      <a:dk2>
        <a:srgbClr val="775F55"/>
      </a:dk2>
      <a:lt2>
        <a:srgbClr val="EBDDC3"/>
      </a:lt2>
      <a:accent1>
        <a:srgbClr val="94B6D2"/>
      </a:accent1>
      <a:accent2>
        <a:srgbClr val="DD8047"/>
      </a:accent2>
      <a:accent3>
        <a:srgbClr val="A5AB81"/>
      </a:accent3>
      <a:accent4>
        <a:srgbClr val="D8B25C"/>
      </a:accent4>
      <a:accent5>
        <a:srgbClr val="7BA79D"/>
      </a:accent5>
      <a:accent6>
        <a:srgbClr val="968C8C"/>
      </a:accent6>
      <a:hlink>
        <a:srgbClr val="F7B615"/>
      </a:hlink>
      <a:folHlink>
        <a:srgbClr val="704404"/>
      </a:folHlink>
    </a:clrScheme>
    <a:fontScheme name="Savon">
      <a:majorFont>
        <a:latin typeface="Avenir Next LT Pro Light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venir Next LT Pro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VTI" id="{A72E8C35-66DD-49F8-AF66-813F19B983AE}" vid="{93CCBC76-B7A1-4C3D-93EA-5CE34C4670F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Custom 46">
    <a:dk1>
      <a:sysClr val="windowText" lastClr="000000"/>
    </a:dk1>
    <a:lt1>
      <a:sysClr val="window" lastClr="FFFFFF"/>
    </a:lt1>
    <a:dk2>
      <a:srgbClr val="121316"/>
    </a:dk2>
    <a:lt2>
      <a:srgbClr val="FEFCF7"/>
    </a:lt2>
    <a:accent1>
      <a:srgbClr val="8394A4"/>
    </a:accent1>
    <a:accent2>
      <a:srgbClr val="65739F"/>
    </a:accent2>
    <a:accent3>
      <a:srgbClr val="B2AC8A"/>
    </a:accent3>
    <a:accent4>
      <a:srgbClr val="879BB3"/>
    </a:accent4>
    <a:accent5>
      <a:srgbClr val="D7B579"/>
    </a:accent5>
    <a:accent6>
      <a:srgbClr val="8A9B89"/>
    </a:accent6>
    <a:hlink>
      <a:srgbClr val="85C4D2"/>
    </a:hlink>
    <a:folHlink>
      <a:srgbClr val="8E8CA7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F91CDEB-92ED-41DC-BF33-2916A76876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259D436-C82E-43E0-8A01-53DF9CED603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46BCBFB-BBC7-42F1-95CD-058E172363A0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{02D0696A-51EF-4BA7-822B-85148D7E48B1}tf11531919_win32</Template>
  <TotalTime>504</TotalTime>
  <Words>531</Words>
  <Application>Microsoft Office PowerPoint</Application>
  <PresentationFormat>Widescreen</PresentationFormat>
  <Paragraphs>61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-apple-system</vt:lpstr>
      <vt:lpstr>Avenir Next LT Pro</vt:lpstr>
      <vt:lpstr>Avenir Next LT Pro (Body)</vt:lpstr>
      <vt:lpstr>Avenir Next LT Pro Light</vt:lpstr>
      <vt:lpstr>Calibri</vt:lpstr>
      <vt:lpstr>Garamond</vt:lpstr>
      <vt:lpstr>Segoe Print</vt:lpstr>
      <vt:lpstr>SavonVTI</vt:lpstr>
      <vt:lpstr>MODIFIED CONDITION/ DECISION COVERAGE TESTING</vt:lpstr>
      <vt:lpstr>WHAT IS MODIFIED CONDITION / DECISION COVERAGE TESTING?</vt:lpstr>
      <vt:lpstr>WHERE IS IT USED?</vt:lpstr>
      <vt:lpstr>WHY IS IT USED?</vt:lpstr>
      <vt:lpstr>WHY IS IT USED? (Continued)</vt:lpstr>
      <vt:lpstr>EXAMPLE 1</vt:lpstr>
      <vt:lpstr>EXAMPLE 1 (Continued)</vt:lpstr>
      <vt:lpstr>EXAMPLE 2</vt:lpstr>
      <vt:lpstr>EXAMPLE 2 (Continued)</vt:lpstr>
      <vt:lpstr>EXAMPLE 3</vt:lpstr>
      <vt:lpstr>EXAMPLE 3 (Continued)</vt:lpstr>
      <vt:lpstr>EXAMPLE 4</vt:lpstr>
      <vt:lpstr>EXAMPLE 4 (Continued)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MODIFIED CONDITION/ DECISION COVERAGE</dc:title>
  <dc:creator>Bilal</dc:creator>
  <cp:lastModifiedBy>Bilal</cp:lastModifiedBy>
  <cp:revision>66</cp:revision>
  <dcterms:created xsi:type="dcterms:W3CDTF">2022-06-27T14:40:53Z</dcterms:created>
  <dcterms:modified xsi:type="dcterms:W3CDTF">2022-07-04T16:26:03Z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
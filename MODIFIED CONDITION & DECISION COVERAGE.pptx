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sldIdLst>
    <p:sldId id="264" r:id="rId5"/>
    <p:sldId id="313" r:id="rId6"/>
    <p:sldId id="315" r:id="rId7"/>
    <p:sldId id="328" r:id="rId8"/>
    <p:sldId id="320" r:id="rId9"/>
    <p:sldId id="318" r:id="rId10"/>
    <p:sldId id="319" r:id="rId11"/>
    <p:sldId id="321" r:id="rId12"/>
    <p:sldId id="322" r:id="rId13"/>
    <p:sldId id="324" r:id="rId14"/>
    <p:sldId id="323" r:id="rId15"/>
    <p:sldId id="325" r:id="rId16"/>
    <p:sldId id="326" r:id="rId17"/>
    <p:sldId id="32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7/2/2022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188066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MODIFIED CONDITION/ DECISION COVERAGE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362450"/>
            <a:ext cx="8652788" cy="776813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dirty="0"/>
              <a:t>MUHAMMAD BILAL (</a:t>
            </a:r>
            <a:r>
              <a:rPr lang="en-US" sz="1800" dirty="0">
                <a:latin typeface="Segoe Print" panose="02000600000000000000" pitchFamily="2" charset="0"/>
              </a:rPr>
              <a:t>02-131192-080</a:t>
            </a:r>
            <a:r>
              <a:rPr lang="en-US" sz="1800" dirty="0"/>
              <a:t>)</a:t>
            </a:r>
          </a:p>
          <a:p>
            <a:pPr algn="l">
              <a:spcAft>
                <a:spcPts val="600"/>
              </a:spcAft>
            </a:pPr>
            <a:r>
              <a:rPr lang="en-US" dirty="0"/>
              <a:t>RABYA ESSANI (</a:t>
            </a:r>
            <a:r>
              <a:rPr lang="en-US" sz="1800" dirty="0">
                <a:latin typeface="Segoe Print" panose="02000600000000000000" pitchFamily="2" charset="0"/>
              </a:rPr>
              <a:t>02-131192-081</a:t>
            </a:r>
            <a:r>
              <a:rPr lang="en-US" dirty="0"/>
              <a:t>)</a:t>
            </a:r>
            <a:endParaRPr lang="en-US" sz="18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B055-28A3-7016-7C57-1E933AE1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04519"/>
            <a:ext cx="10058400" cy="1371600"/>
          </a:xfrm>
        </p:spPr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WHAT IS MODIFIED CONDITION / DECISION COVERAGE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073-6F6C-CD66-C27C-4F195316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IT IS A WHITE BOX TESTING TECNIQUE USED TO TEST HIGHLY CRITICAL SYSTEMS. IN MC/DC EACH CONDITION IN A DECISION HAS BEEN SHOWN TO INDEPENDENTLY AFFECT THAT DECISION'S OUTCOME BY VARYING JUST THAT CONDITION WHILE HOLDING ALL OTHER POSSIBLE CONDITIONS FIXED.</a:t>
            </a:r>
          </a:p>
        </p:txBody>
      </p:sp>
    </p:spTree>
    <p:extLst>
      <p:ext uri="{BB962C8B-B14F-4D97-AF65-F5344CB8AC3E}">
        <p14:creationId xmlns:p14="http://schemas.microsoft.com/office/powerpoint/2010/main" val="336308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B055-28A3-7016-7C57-1E933AE1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Segoe Print" panose="02000600000000000000" pitchFamily="2" charset="0"/>
              </a:rPr>
              <a:t>WHERE IS IT USED?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073-6F6C-CD66-C27C-4F195316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330DFC-EB25-C10F-5BB7-FA85AAD591DB}"/>
              </a:ext>
            </a:extLst>
          </p:cNvPr>
          <p:cNvSpPr txBox="1">
            <a:spLocks/>
          </p:cNvSpPr>
          <p:nvPr/>
        </p:nvSpPr>
        <p:spPr>
          <a:xfrm>
            <a:off x="12192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IT IS USED IN SOFTWARES WHERE PREVENTION FROM FAILURE IS AT THE MAXIMUM PRIORITY. SUCH AS THE SAFTY CRITICAL APPLICATIONS IN THE AVIONIC DOMAIN (systems including communications, </a:t>
            </a:r>
            <a:r>
              <a:rPr lang="en-US" sz="2400"/>
              <a:t>navigation, display </a:t>
            </a:r>
            <a:r>
              <a:rPr lang="en-US" sz="2400" dirty="0"/>
              <a:t>and management of multiple systems, and the hundreds of systems that are fitted to aircraft to perform </a:t>
            </a:r>
            <a:r>
              <a:rPr lang="en-US" sz="2400"/>
              <a:t>individual functions).</a:t>
            </a:r>
            <a:endParaRPr lang="en-US" sz="2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Garamond" pitchFamily="18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421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B055-28A3-7016-7C57-1E933AE1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Segoe Print" panose="02000600000000000000" pitchFamily="2" charset="0"/>
              </a:rPr>
              <a:t>WHY IS IT USED?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073-6F6C-CD66-C27C-4F195316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330DFC-EB25-C10F-5BB7-FA85AAD591DB}"/>
              </a:ext>
            </a:extLst>
          </p:cNvPr>
          <p:cNvSpPr txBox="1">
            <a:spLocks/>
          </p:cNvSpPr>
          <p:nvPr/>
        </p:nvSpPr>
        <p:spPr>
          <a:xfrm>
            <a:off x="12192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MC/DC PROVIDES A BALANCE BETWEEN PRECISION AND EFFORT. IT REQUIRES A MUCH SMALLER NUMBER OF TEST CASES AS COMPARED TO OTHER COVERAGE TECHNIQUES WHILE RETAINING A HIGH ERROR-DETECTION PROBABILITY.</a:t>
            </a:r>
          </a:p>
        </p:txBody>
      </p:sp>
    </p:spTree>
    <p:extLst>
      <p:ext uri="{BB962C8B-B14F-4D97-AF65-F5344CB8AC3E}">
        <p14:creationId xmlns:p14="http://schemas.microsoft.com/office/powerpoint/2010/main" val="247550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B055-28A3-7016-7C57-1E933AE1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14044"/>
            <a:ext cx="10058400" cy="1371600"/>
          </a:xfrm>
        </p:spPr>
        <p:txBody>
          <a:bodyPr/>
          <a:lstStyle/>
          <a:p>
            <a:pPr algn="ctr"/>
            <a:r>
              <a:rPr lang="en-US" sz="4000" b="1" dirty="0">
                <a:latin typeface="Segoe Print" panose="02000600000000000000" pitchFamily="2" charset="0"/>
              </a:rPr>
              <a:t>WHY IS IT USED? </a:t>
            </a:r>
            <a:r>
              <a:rPr lang="en-US" b="1" dirty="0">
                <a:latin typeface="Segoe Print" panose="02000600000000000000" pitchFamily="2" charset="0"/>
              </a:rPr>
              <a:t>(Continued)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073-6F6C-CD66-C27C-4F195316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330DFC-EB25-C10F-5BB7-FA85AAD591DB}"/>
              </a:ext>
            </a:extLst>
          </p:cNvPr>
          <p:cNvSpPr txBox="1">
            <a:spLocks/>
          </p:cNvSpPr>
          <p:nvPr/>
        </p:nvSpPr>
        <p:spPr>
          <a:xfrm>
            <a:off x="12192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WHEN WE TALK ABOUT CONDITION, WE POSSIBLY HAVE 2 OUTCOMES EITHER </a:t>
            </a:r>
            <a:r>
              <a:rPr lang="en-US" sz="2400" dirty="0">
                <a:solidFill>
                  <a:srgbClr val="FF0000"/>
                </a:solidFill>
              </a:rPr>
              <a:t>TRUE </a:t>
            </a:r>
            <a:r>
              <a:rPr lang="en-US" sz="2400" dirty="0"/>
              <a:t>OR </a:t>
            </a:r>
            <a:r>
              <a:rPr lang="en-US" sz="2400" dirty="0">
                <a:solidFill>
                  <a:srgbClr val="FF0000"/>
                </a:solidFill>
              </a:rPr>
              <a:t>FALSE</a:t>
            </a:r>
            <a:r>
              <a:rPr lang="en-US" sz="2400" dirty="0"/>
              <a:t>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WHEN WE HAVE ‘N’ NUMBER OF CONDITIONS THE TOTAL COMBINATION CAN BE CALCULATED BY 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-apple-system"/>
              </a:rPr>
              <a:t>2</a:t>
            </a:r>
            <a:r>
              <a:rPr lang="en-US" sz="2800" baseline="30000" dirty="0">
                <a:solidFill>
                  <a:srgbClr val="212529"/>
                </a:solidFill>
                <a:latin typeface="-apple-system"/>
              </a:rPr>
              <a:t>N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en-US" sz="2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Garamond" pitchFamily="18" charset="0"/>
              <a:buNone/>
            </a:pPr>
            <a:r>
              <a:rPr lang="en-US" sz="2400" dirty="0"/>
              <a:t>BUT MC/DC REQUIRES SIGNIFICANTLY FEWER TESTS WITH HIGH ERROR DETECTION PROBABILITY.</a:t>
            </a:r>
          </a:p>
        </p:txBody>
      </p:sp>
    </p:spTree>
    <p:extLst>
      <p:ext uri="{BB962C8B-B14F-4D97-AF65-F5344CB8AC3E}">
        <p14:creationId xmlns:p14="http://schemas.microsoft.com/office/powerpoint/2010/main" val="319200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D170-E903-8B32-44F3-D7D27CDC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1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98C09D-B9F4-5BB3-C0EE-E28B8E178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250" y="3071019"/>
            <a:ext cx="74295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9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9929-07B8-8CFE-95EC-8B2C2286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1 (Continued)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B931B-5E33-5EF3-C162-880EE5948560}"/>
              </a:ext>
            </a:extLst>
          </p:cNvPr>
          <p:cNvSpPr txBox="1"/>
          <p:nvPr/>
        </p:nvSpPr>
        <p:spPr>
          <a:xfrm>
            <a:off x="7277101" y="2014193"/>
            <a:ext cx="4238624" cy="384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B0833A6-7F66-91C7-2F92-928A0EBB67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7277101" y="2293968"/>
            <a:ext cx="4165052" cy="3308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dirty="0">
                <a:solidFill>
                  <a:srgbClr val="3D3D4E"/>
                </a:solidFill>
                <a:latin typeface="Avenir Next LT Pro (Body)"/>
              </a:rPr>
              <a:t>A can alter the result independently as shown in test number 4 &amp; 8.</a:t>
            </a:r>
          </a:p>
          <a:p>
            <a:pPr lvl="0"/>
            <a:endParaRPr lang="en-US" altLang="en-US" sz="1900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sz="1900" dirty="0">
                <a:solidFill>
                  <a:srgbClr val="3D3D4E"/>
                </a:solidFill>
                <a:latin typeface="Avenir Next LT Pro (Body)"/>
              </a:rPr>
              <a:t>B can alter the result independently as shown in test number 6 &amp; 8.</a:t>
            </a:r>
          </a:p>
          <a:p>
            <a:pPr lvl="0"/>
            <a:endParaRPr lang="en-US" altLang="en-US" sz="1900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sz="1900" dirty="0">
                <a:solidFill>
                  <a:srgbClr val="3D3D4E"/>
                </a:solidFill>
                <a:latin typeface="Avenir Next LT Pro (Body)"/>
              </a:rPr>
              <a:t>C can alter the result independently as shown in test number 1 &amp; 2.</a:t>
            </a:r>
          </a:p>
          <a:p>
            <a:pPr lvl="0"/>
            <a:endParaRPr lang="en-US" altLang="en-US" sz="1900" dirty="0">
              <a:solidFill>
                <a:srgbClr val="3D3D4E"/>
              </a:solidFill>
              <a:latin typeface="Avenir Next LT Pro (Body)"/>
            </a:endParaRPr>
          </a:p>
          <a:p>
            <a:pPr lvl="0"/>
            <a:r>
              <a:rPr lang="en-US" altLang="en-US" sz="1900" dirty="0">
                <a:solidFill>
                  <a:srgbClr val="3D3D4E"/>
                </a:solidFill>
                <a:latin typeface="Avenir Next LT Pro (Body)"/>
              </a:rPr>
              <a:t>Hence, we will choose test numbers 1, 2, 4, 6, and 8 as our test cases.</a:t>
            </a:r>
            <a:r>
              <a:rPr lang="en-US" altLang="en-US" sz="1900" dirty="0">
                <a:latin typeface="Avenir Next LT Pro (Body)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B4E0F6-3F6A-84D4-07F1-F8E60DF59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958" y="1877475"/>
            <a:ext cx="5344882" cy="414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3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D170-E903-8B32-44F3-D7D27CDC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2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2E9D0-BBBF-856B-CFA4-EEB64E45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839A6A-C338-A308-2BCE-4D40D13A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319" y="2862262"/>
            <a:ext cx="6305361" cy="19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9929-07B8-8CFE-95EC-8B2C2286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2 (Continued)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B931B-5E33-5EF3-C162-880EE5948560}"/>
              </a:ext>
            </a:extLst>
          </p:cNvPr>
          <p:cNvSpPr txBox="1"/>
          <p:nvPr/>
        </p:nvSpPr>
        <p:spPr>
          <a:xfrm>
            <a:off x="7277101" y="2014193"/>
            <a:ext cx="4238624" cy="384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B0833A6-7F66-91C7-2F92-928A0EBB67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7277101" y="1906402"/>
            <a:ext cx="4165052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KETTLE can alter the result independently as shown in test number 4 &amp; 8.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CUP can alter the result independently as shown in test number 6 &amp; 8.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COFFEE can alter the result independently as shown in test number 7 &amp; 8.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pPr lvl="0"/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Hence, we will choose test numbers 4, 6, 7, and 8 as our test cases.</a:t>
            </a:r>
            <a:r>
              <a:rPr lang="en-US" altLang="en-US" dirty="0">
                <a:latin typeface="Avenir Next LT Pro (Body)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98E2B6-8D52-7C5E-FC80-33D8B182C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53523"/>
            <a:ext cx="5415280" cy="430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7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D170-E903-8B32-44F3-D7D27CDC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3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054C4B-D1BD-BF02-687C-B5ADD7D2A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387" y="3209158"/>
            <a:ext cx="6693225" cy="1634649"/>
          </a:xfrm>
        </p:spPr>
      </p:pic>
    </p:spTree>
    <p:extLst>
      <p:ext uri="{BB962C8B-B14F-4D97-AF65-F5344CB8AC3E}">
        <p14:creationId xmlns:p14="http://schemas.microsoft.com/office/powerpoint/2010/main" val="108764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9929-07B8-8CFE-95EC-8B2C2286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3 (Continued)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B931B-5E33-5EF3-C162-880EE5948560}"/>
              </a:ext>
            </a:extLst>
          </p:cNvPr>
          <p:cNvSpPr txBox="1"/>
          <p:nvPr/>
        </p:nvSpPr>
        <p:spPr>
          <a:xfrm>
            <a:off x="7277101" y="2014193"/>
            <a:ext cx="4238624" cy="384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70A393-15BC-C7F1-E6CE-D9736BBF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14193"/>
            <a:ext cx="5053013" cy="39482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C37CDF8A-D731-BA6E-5A8B-D8B36A2C67F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7277101" y="2321899"/>
            <a:ext cx="4165052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A can alter the result independently as shown in test number 2 &amp; 6.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B can alter the result independently as shown in test number 2 &amp; 4.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C can alter the result independently as shown in test number 3 &amp; 4.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pPr lvl="0"/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Hence, we will choose test numbers 2, 3, 4, and 6 as our test cases.</a:t>
            </a:r>
            <a:r>
              <a:rPr lang="en-US" altLang="en-US" dirty="0">
                <a:latin typeface="Avenir Next LT Pro (Body)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6736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D170-E903-8B32-44F3-D7D27CDC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4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EC724-2AA4-7E14-706C-FD0D75A4D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4666A-4CEE-1B86-8078-2A4962DF1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2964180"/>
            <a:ext cx="9163050" cy="197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83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9929-07B8-8CFE-95EC-8B2C22869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42594"/>
            <a:ext cx="5029200" cy="108143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Segoe Print" panose="02000600000000000000" pitchFamily="2" charset="0"/>
              </a:rPr>
              <a:t>EXAMPLE 4 (Continued)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B931B-5E33-5EF3-C162-880EE5948560}"/>
              </a:ext>
            </a:extLst>
          </p:cNvPr>
          <p:cNvSpPr txBox="1"/>
          <p:nvPr/>
        </p:nvSpPr>
        <p:spPr>
          <a:xfrm>
            <a:off x="6096000" y="2014193"/>
            <a:ext cx="5419725" cy="384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37CDF8A-D731-BA6E-5A8B-D8B36A2C67F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6258560" y="1906401"/>
            <a:ext cx="5183593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A can alter the result independently as shown in test number 3 &amp; 11.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B can alter the result independently as shown in test number 3 &amp; 7.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C can alter the result independently as shown in test number 1, 3, 5 &amp; 7.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D can alter the result independently as shown in test number 1, 2, 13 &amp; 14.</a:t>
            </a:r>
          </a:p>
          <a:p>
            <a:pPr lvl="0"/>
            <a:endParaRPr lang="en-US" altLang="en-US" dirty="0">
              <a:solidFill>
                <a:srgbClr val="3D3D4E"/>
              </a:solidFill>
              <a:latin typeface="Avenir Next LT Pro (Body)"/>
            </a:endParaRPr>
          </a:p>
          <a:p>
            <a:pPr lvl="0"/>
            <a:r>
              <a:rPr lang="en-US" altLang="en-US" dirty="0">
                <a:solidFill>
                  <a:srgbClr val="3D3D4E"/>
                </a:solidFill>
                <a:latin typeface="Avenir Next LT Pro (Body)"/>
              </a:rPr>
              <a:t>Hence, we will choose test numbers 1, 2, 3, 5, 7, 11, 13 and 14 as our test cases.</a:t>
            </a:r>
            <a:r>
              <a:rPr lang="en-US" altLang="en-US" dirty="0">
                <a:latin typeface="Avenir Next LT Pro (Body)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A9360-7442-4D13-59E8-F9E9C15AFF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131"/>
          <a:stretch/>
        </p:blipFill>
        <p:spPr>
          <a:xfrm>
            <a:off x="1066800" y="771525"/>
            <a:ext cx="464566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2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75B6-F577-B81E-74D9-6E82D620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10058400" cy="13716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8618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{02D0696A-51EF-4BA7-822B-85148D7E48B1}tf11531919_win32</Template>
  <TotalTime>472</TotalTime>
  <Words>546</Words>
  <Application>Microsoft Office PowerPoint</Application>
  <PresentationFormat>Widescreen</PresentationFormat>
  <Paragraphs>61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-apple-system</vt:lpstr>
      <vt:lpstr>Avenir Next LT Pro</vt:lpstr>
      <vt:lpstr>Avenir Next LT Pro (Body)</vt:lpstr>
      <vt:lpstr>Avenir Next LT Pro Light</vt:lpstr>
      <vt:lpstr>Calibri</vt:lpstr>
      <vt:lpstr>Garamond</vt:lpstr>
      <vt:lpstr>Segoe Print</vt:lpstr>
      <vt:lpstr>SavonVTI</vt:lpstr>
      <vt:lpstr>MODIFIED CONDITION/ DECISION COVERAGE TESTING</vt:lpstr>
      <vt:lpstr>WHAT IS MODIFIED CONDITION / DECISION COVERAGE TESTING?</vt:lpstr>
      <vt:lpstr>WHERE IS IT USED?</vt:lpstr>
      <vt:lpstr>WHY IS IT USED?</vt:lpstr>
      <vt:lpstr>WHY IS IT USED? (Continued)</vt:lpstr>
      <vt:lpstr>EXAMPLE 1</vt:lpstr>
      <vt:lpstr>EXAMPLE 1 (Continued)</vt:lpstr>
      <vt:lpstr>EXAMPLE 2</vt:lpstr>
      <vt:lpstr>EXAMPLE 2 (Continued)</vt:lpstr>
      <vt:lpstr>EXAMPLE 3</vt:lpstr>
      <vt:lpstr>EXAMPLE 3 (Continued)</vt:lpstr>
      <vt:lpstr>EXAMPLE 4</vt:lpstr>
      <vt:lpstr>EXAMPLE 4 (Continued)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MODIFIED CONDITION/ DECISION COVERAGE</dc:title>
  <dc:creator>Bilal</dc:creator>
  <cp:lastModifiedBy>Bilal</cp:lastModifiedBy>
  <cp:revision>58</cp:revision>
  <dcterms:created xsi:type="dcterms:W3CDTF">2022-06-27T14:40:53Z</dcterms:created>
  <dcterms:modified xsi:type="dcterms:W3CDTF">2022-07-02T08:09:34Z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
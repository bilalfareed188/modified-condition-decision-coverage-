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9"/>
  </p:notesMasterIdLst>
  <p:sldIdLst>
    <p:sldId id="264" r:id="rId5"/>
    <p:sldId id="313" r:id="rId6"/>
    <p:sldId id="315" r:id="rId7"/>
    <p:sldId id="328" r:id="rId8"/>
    <p:sldId id="320" r:id="rId9"/>
    <p:sldId id="318" r:id="rId10"/>
    <p:sldId id="319" r:id="rId11"/>
    <p:sldId id="321" r:id="rId12"/>
    <p:sldId id="322" r:id="rId13"/>
    <p:sldId id="324" r:id="rId14"/>
    <p:sldId id="323" r:id="rId15"/>
    <p:sldId id="325" r:id="rId16"/>
    <p:sldId id="326" r:id="rId17"/>
    <p:sldId id="32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9" autoAdjust="0"/>
  </p:normalViewPr>
  <p:slideViewPr>
    <p:cSldViewPr snapToGrid="0">
      <p:cViewPr varScale="1">
        <p:scale>
          <a:sx n="67" d="100"/>
          <a:sy n="67" d="100"/>
        </p:scale>
        <p:origin x="6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6DBDFE-DD3D-4291-A404-1B97A83A6EA8}" type="datetimeFigureOut">
              <a:rPr lang="en-US" smtClean="0"/>
              <a:t>7/4/2022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56DE3-4E01-4AFD-AD42-42312842ED8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961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9870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701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881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7321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058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73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587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32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160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7/4/2022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9103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90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BF9FFE17-DE95-4821-ACC1-B90C95449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CF76AF-FF72-4430-A772-05840329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1132" y="2091263"/>
            <a:ext cx="8649738" cy="1880662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MODIFIED CONDITION/ DECISION COVERAGE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1130" y="4362450"/>
            <a:ext cx="8652788" cy="776813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sz="1800" dirty="0"/>
              <a:t>MUHAMMAD BILAL (</a:t>
            </a:r>
            <a:r>
              <a:rPr lang="en-US" sz="1800" dirty="0">
                <a:latin typeface="Segoe Print" panose="02000600000000000000" pitchFamily="2" charset="0"/>
              </a:rPr>
              <a:t>02-131192-080</a:t>
            </a:r>
            <a:r>
              <a:rPr lang="en-US" sz="1800" dirty="0"/>
              <a:t>)</a:t>
            </a:r>
          </a:p>
          <a:p>
            <a:pPr algn="l">
              <a:spcAft>
                <a:spcPts val="600"/>
              </a:spcAft>
            </a:pPr>
            <a:r>
              <a:rPr lang="en-US" dirty="0"/>
              <a:t>RABYA ESSANI (</a:t>
            </a:r>
            <a:r>
              <a:rPr lang="en-US" sz="1800" dirty="0">
                <a:latin typeface="Segoe Print" panose="02000600000000000000" pitchFamily="2" charset="0"/>
              </a:rPr>
              <a:t>02-131192-081</a:t>
            </a:r>
            <a:r>
              <a:rPr lang="en-US" dirty="0"/>
              <a:t>)</a:t>
            </a:r>
            <a:endParaRPr lang="en-US" sz="1800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B1C8180-2FDD-4202-8C45-4057CB1AB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6E86CC6-13EA-4A88-86AD-CF27BF52C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F80B441-4F7D-4B40-8A13-FED03A1F3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94182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0C7FD1A-44B1-4E4C-B0C9-A8103DCCD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913025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2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804519"/>
            <a:ext cx="10058400" cy="1371600"/>
          </a:xfrm>
        </p:spPr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WHAT IS MODIFIED CONDITION / DECISION COVERAGE TESTING?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IT IS A WHITE BOX TESTING TECNIQUE USED TO TEST HIGHLY CRITICAL SYSTEMS. IN MC/DC EACH CONDITION IN A DECISION HAS BEEN SHOWN TO INDEPENDENTLY AFFECT THAT DECISION'S OUTCOME BY VARYING JUST THAT CONDITION WHILE HOLDING ALL OTHER POSSIBLE CONDITIONS FIXED.</a:t>
            </a:r>
          </a:p>
        </p:txBody>
      </p:sp>
    </p:spTree>
    <p:extLst>
      <p:ext uri="{BB962C8B-B14F-4D97-AF65-F5344CB8AC3E}">
        <p14:creationId xmlns:p14="http://schemas.microsoft.com/office/powerpoint/2010/main" val="3363089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Segoe Print" panose="02000600000000000000" pitchFamily="2" charset="0"/>
              </a:rPr>
              <a:t>WHERE IS IT USED?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0330DFC-EB25-C10F-5BB7-FA85AAD591DB}"/>
              </a:ext>
            </a:extLst>
          </p:cNvPr>
          <p:cNvSpPr txBox="1">
            <a:spLocks/>
          </p:cNvSpPr>
          <p:nvPr/>
        </p:nvSpPr>
        <p:spPr>
          <a:xfrm>
            <a:off x="12192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IT IS USED IN SOFTWARES WHERE PREVENTION FROM FAILURE IS AT THE MAXIMUM PRIORITY. SUCH AS THE SAFTY CRITICAL APPLICATIONS IN THE AVIONIC DOMAIN (systems including communications, </a:t>
            </a:r>
            <a:r>
              <a:rPr lang="en-US" sz="2400"/>
              <a:t>navigation, display </a:t>
            </a:r>
            <a:r>
              <a:rPr lang="en-US" sz="2400" dirty="0"/>
              <a:t>and management of multiple systems, and the hundreds of systems that are fitted to aircraft to perform </a:t>
            </a:r>
            <a:r>
              <a:rPr lang="en-US" sz="2400"/>
              <a:t>individual functions).</a:t>
            </a: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Garamond" pitchFamily="18" charset="0"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94217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Segoe Print" panose="02000600000000000000" pitchFamily="2" charset="0"/>
              </a:rPr>
              <a:t>WHY IS IT USED?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0330DFC-EB25-C10F-5BB7-FA85AAD591DB}"/>
              </a:ext>
            </a:extLst>
          </p:cNvPr>
          <p:cNvSpPr txBox="1">
            <a:spLocks/>
          </p:cNvSpPr>
          <p:nvPr/>
        </p:nvSpPr>
        <p:spPr>
          <a:xfrm>
            <a:off x="12192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MC/DC PROVIDES A BALANCE BETWEEN PRECISION AND EFFORT. IT REQUIRES A MUCH SMALLER NUMBER OF TEST CASES AS COMPARED TO OTHER COVERAGE TECHNIQUES WHILE RETAINING A HIGH ERROR-DETECTION PROBABILITY.</a:t>
            </a:r>
          </a:p>
        </p:txBody>
      </p:sp>
    </p:spTree>
    <p:extLst>
      <p:ext uri="{BB962C8B-B14F-4D97-AF65-F5344CB8AC3E}">
        <p14:creationId xmlns:p14="http://schemas.microsoft.com/office/powerpoint/2010/main" val="2475505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814044"/>
            <a:ext cx="10058400" cy="1371600"/>
          </a:xfrm>
        </p:spPr>
        <p:txBody>
          <a:bodyPr/>
          <a:lstStyle/>
          <a:p>
            <a:pPr algn="ctr"/>
            <a:r>
              <a:rPr lang="en-US" sz="4000" b="1" dirty="0">
                <a:latin typeface="Segoe Print" panose="02000600000000000000" pitchFamily="2" charset="0"/>
              </a:rPr>
              <a:t>WHY IS IT USED? </a:t>
            </a:r>
            <a:r>
              <a:rPr lang="en-US" b="1" dirty="0">
                <a:latin typeface="Segoe Print" panose="02000600000000000000" pitchFamily="2" charset="0"/>
              </a:rPr>
              <a:t>(Continued)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0330DFC-EB25-C10F-5BB7-FA85AAD591DB}"/>
              </a:ext>
            </a:extLst>
          </p:cNvPr>
          <p:cNvSpPr txBox="1">
            <a:spLocks/>
          </p:cNvSpPr>
          <p:nvPr/>
        </p:nvSpPr>
        <p:spPr>
          <a:xfrm>
            <a:off x="12192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WHEN WE TALK ABOUT CONDITION, WE POSSIBLY HAVE 2 OUTCOMES EITHER </a:t>
            </a:r>
            <a:r>
              <a:rPr lang="en-US" sz="2400" dirty="0">
                <a:solidFill>
                  <a:srgbClr val="FF0000"/>
                </a:solidFill>
              </a:rPr>
              <a:t>TRUE </a:t>
            </a:r>
            <a:r>
              <a:rPr lang="en-US" sz="2400" dirty="0"/>
              <a:t>OR </a:t>
            </a:r>
            <a:r>
              <a:rPr lang="en-US" sz="2400" dirty="0">
                <a:solidFill>
                  <a:srgbClr val="FF0000"/>
                </a:solidFill>
              </a:rPr>
              <a:t>FALSE</a:t>
            </a:r>
            <a:r>
              <a:rPr lang="en-US" sz="2400" dirty="0"/>
              <a:t>.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WHEN WE HAVE ‘N’ NUMBER OF CONDITIONS THE TOTAL COMBINATION CAN BE CALCULATED BY </a:t>
            </a:r>
            <a:r>
              <a:rPr lang="en-US" sz="2800" b="0" i="0" dirty="0">
                <a:solidFill>
                  <a:srgbClr val="212529"/>
                </a:solidFill>
                <a:effectLst/>
                <a:latin typeface="-apple-system"/>
              </a:rPr>
              <a:t>2</a:t>
            </a:r>
            <a:r>
              <a:rPr lang="en-US" sz="2800" baseline="30000" dirty="0">
                <a:solidFill>
                  <a:srgbClr val="212529"/>
                </a:solidFill>
                <a:latin typeface="-apple-system"/>
              </a:rPr>
              <a:t>N</a:t>
            </a:r>
            <a:r>
              <a:rPr lang="en-US" sz="2800" b="0" i="0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Garamond" pitchFamily="18" charset="0"/>
              <a:buNone/>
            </a:pPr>
            <a:r>
              <a:rPr lang="en-US" sz="2400" dirty="0"/>
              <a:t>BUT MC/DC REQUIRES SIGNIFICANTLY FEWER TESTS WITH HIGH ERROR DETECTION PROBABILITY.</a:t>
            </a:r>
          </a:p>
        </p:txBody>
      </p:sp>
    </p:spTree>
    <p:extLst>
      <p:ext uri="{BB962C8B-B14F-4D97-AF65-F5344CB8AC3E}">
        <p14:creationId xmlns:p14="http://schemas.microsoft.com/office/powerpoint/2010/main" val="3192001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1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898C09D-B9F4-5BB3-C0EE-E28B8E178F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1250" y="3071019"/>
            <a:ext cx="7429500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94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1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B0833A6-7F66-91C7-2F92-928A0EBB6721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2293968"/>
            <a:ext cx="4165052" cy="33085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3 &amp; 7.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5 &amp; 7.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1 &amp; 2.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Hence, we will choose test numbers 1, 2, 4, 6, and 8 as our test cases.</a:t>
            </a:r>
            <a:r>
              <a:rPr lang="en-US" altLang="en-US" sz="1900" dirty="0">
                <a:latin typeface="Avenir Next LT Pro (Body)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6AEA2-A434-B333-8C1F-A2A784060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40" y="1905947"/>
            <a:ext cx="5293360" cy="408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132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2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839A6A-C338-A308-2BCE-4D40D13AE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319" y="2862262"/>
            <a:ext cx="6305361" cy="196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17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2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B0833A6-7F66-91C7-2F92-928A0EBB6721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1906402"/>
            <a:ext cx="4165052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KETTLE can alter the result independently as shown in test number 4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CUP can alter the result independently as shown in test number 6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COFFEE can alter the result independently as shown in test number 7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4, 6, 7, and 8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98E2B6-8D52-7C5E-FC80-33D8B182C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853523"/>
            <a:ext cx="5415280" cy="430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53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3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054C4B-D1BD-BF02-687C-B5ADD7D2A9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49387" y="3209158"/>
            <a:ext cx="6693225" cy="1634649"/>
          </a:xfrm>
        </p:spPr>
      </p:pic>
    </p:spTree>
    <p:extLst>
      <p:ext uri="{BB962C8B-B14F-4D97-AF65-F5344CB8AC3E}">
        <p14:creationId xmlns:p14="http://schemas.microsoft.com/office/powerpoint/2010/main" val="1087641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3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70A393-15BC-C7F1-E6CE-D9736BBFC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014193"/>
            <a:ext cx="5053013" cy="3948279"/>
          </a:xfrm>
          <a:prstGeom prst="rect">
            <a:avLst/>
          </a:prstGeom>
        </p:spPr>
      </p:pic>
      <p:sp>
        <p:nvSpPr>
          <p:cNvPr id="12" name="Rectangle 2">
            <a:extLst>
              <a:ext uri="{FF2B5EF4-FFF2-40B4-BE49-F238E27FC236}">
                <a16:creationId xmlns:a16="http://schemas.microsoft.com/office/drawing/2014/main" id="{C37CDF8A-D731-BA6E-5A8B-D8B36A2C67FE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2321899"/>
            <a:ext cx="4165052" cy="31393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2 &amp; 6.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2 &amp; 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3 &amp; 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2, 3, 4, and 6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6736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4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C4666A-4CEE-1B86-8078-2A4962DF1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475" y="2964180"/>
            <a:ext cx="9163050" cy="197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183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42594"/>
            <a:ext cx="5029200" cy="1081431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4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6096000" y="2014193"/>
            <a:ext cx="5419725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C37CDF8A-D731-BA6E-5A8B-D8B36A2C67FE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6258560" y="1906401"/>
            <a:ext cx="5183593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3 &amp; 11.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3 &amp; 7.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5 &amp; 7.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D can alter the result independently as shown in test number 3 &amp; 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3, 4, 5, 7, and 11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FAF4EC-20CD-9E76-30DF-00768FC46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7" y="642594"/>
            <a:ext cx="4686300" cy="534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675B6-F577-B81E-74D9-6E82D6209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43200"/>
            <a:ext cx="10058400" cy="13716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86181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Savon">
      <a:majorFont>
        <a:latin typeface="Avenir Next LT Pro Light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venir Next LT Pro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VTI" id="{A72E8C35-66DD-49F8-AF66-813F19B983AE}" vid="{93CCBC76-B7A1-4C3D-93EA-5CE34C4670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46">
    <a:dk1>
      <a:sysClr val="windowText" lastClr="000000"/>
    </a:dk1>
    <a:lt1>
      <a:sysClr val="window" lastClr="FFFFFF"/>
    </a:lt1>
    <a:dk2>
      <a:srgbClr val="121316"/>
    </a:dk2>
    <a:lt2>
      <a:srgbClr val="FEFCF7"/>
    </a:lt2>
    <a:accent1>
      <a:srgbClr val="8394A4"/>
    </a:accent1>
    <a:accent2>
      <a:srgbClr val="65739F"/>
    </a:accent2>
    <a:accent3>
      <a:srgbClr val="B2AC8A"/>
    </a:accent3>
    <a:accent4>
      <a:srgbClr val="879BB3"/>
    </a:accent4>
    <a:accent5>
      <a:srgbClr val="D7B579"/>
    </a:accent5>
    <a:accent6>
      <a:srgbClr val="8A9B89"/>
    </a:accent6>
    <a:hlink>
      <a:srgbClr val="85C4D2"/>
    </a:hlink>
    <a:folHlink>
      <a:srgbClr val="8E8CA7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259D436-C82E-43E0-8A01-53DF9CED603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91CDEB-92ED-41DC-BF33-2916A76876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46BCBFB-BBC7-42F1-95CD-058E172363A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{02D0696A-51EF-4BA7-822B-85148D7E48B1}tf11531919_win32</Template>
  <TotalTime>502</TotalTime>
  <Words>533</Words>
  <Application>Microsoft Office PowerPoint</Application>
  <PresentationFormat>Widescreen</PresentationFormat>
  <Paragraphs>61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-apple-system</vt:lpstr>
      <vt:lpstr>Avenir Next LT Pro</vt:lpstr>
      <vt:lpstr>Avenir Next LT Pro (Body)</vt:lpstr>
      <vt:lpstr>Avenir Next LT Pro Light</vt:lpstr>
      <vt:lpstr>Calibri</vt:lpstr>
      <vt:lpstr>Garamond</vt:lpstr>
      <vt:lpstr>Segoe Print</vt:lpstr>
      <vt:lpstr>SavonVTI</vt:lpstr>
      <vt:lpstr>MODIFIED CONDITION/ DECISION COVERAGE TESTING</vt:lpstr>
      <vt:lpstr>WHAT IS MODIFIED CONDITION / DECISION COVERAGE TESTING?</vt:lpstr>
      <vt:lpstr>WHERE IS IT USED?</vt:lpstr>
      <vt:lpstr>WHY IS IT USED?</vt:lpstr>
      <vt:lpstr>WHY IS IT USED? (Continued)</vt:lpstr>
      <vt:lpstr>EXAMPLE 1</vt:lpstr>
      <vt:lpstr>EXAMPLE 1 (Continued)</vt:lpstr>
      <vt:lpstr>EXAMPLE 2</vt:lpstr>
      <vt:lpstr>EXAMPLE 2 (Continued)</vt:lpstr>
      <vt:lpstr>EXAMPLE 3</vt:lpstr>
      <vt:lpstr>EXAMPLE 3 (Continued)</vt:lpstr>
      <vt:lpstr>EXAMPLE 4</vt:lpstr>
      <vt:lpstr>EXAMPLE 4 (Continued)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MODIFIED CONDITION/ DECISION COVERAGE</dc:title>
  <dc:creator>Bilal</dc:creator>
  <cp:lastModifiedBy>Bilal</cp:lastModifiedBy>
  <cp:revision>65</cp:revision>
  <dcterms:created xsi:type="dcterms:W3CDTF">2022-06-27T14:40:53Z</dcterms:created>
  <dcterms:modified xsi:type="dcterms:W3CDTF">2022-07-04T16:20:30Z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